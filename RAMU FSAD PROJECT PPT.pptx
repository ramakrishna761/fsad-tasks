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3" autoAdjust="0"/>
    <p:restoredTop sz="94622" autoAdjust="0"/>
  </p:normalViewPr>
  <p:slideViewPr>
    <p:cSldViewPr>
      <p:cViewPr varScale="1">
        <p:scale>
          <a:sx n="52" d="100"/>
          <a:sy n="52" d="100"/>
        </p:scale>
        <p:origin x="182" y="9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Date:23-03-2026 </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DYNAMIC ONLINE EXAINATION &amp; RESULT PROCESSING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B.RAMAKRISHNA – VTU(25818) – 23UECS0074</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9961670" y="7800539"/>
            <a:ext cx="87630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HEMAMALINI-ASST PROFESSOR(SR.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84775"/>
          </a:xfrm>
          <a:prstGeom prst="rect">
            <a:avLst/>
          </a:prstGeom>
          <a:noFill/>
        </p:spPr>
        <p:txBody>
          <a:bodyPr wrap="square" rtlCol="0">
            <a:spAutoFit/>
          </a:bodyPr>
          <a:lstStyle/>
          <a:p>
            <a:r>
              <a:rPr lang="en-US" sz="3200" b="1" dirty="0">
                <a:latin typeface="Cambria" panose="02040503050406030204" pitchFamily="18" charset="0"/>
                <a:ea typeface="Cambria" panose="02040503050406030204" pitchFamily="18" charset="0"/>
              </a:rPr>
              <a:t>SDG: SDG 4 –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35106" y="1528233"/>
            <a:ext cx="15848094" cy="7848302"/>
          </a:xfrm>
          <a:prstGeom prst="rect">
            <a:avLst/>
          </a:prstGeom>
          <a:noFill/>
        </p:spPr>
        <p:txBody>
          <a:bodyPr wrap="square" rtlCol="0">
            <a:spAutoFit/>
          </a:bodyPr>
          <a:lstStyle/>
          <a:p>
            <a:pPr marL="457200" indent="-457200" algn="just">
              <a:buFontTx/>
              <a:buChar char="-"/>
            </a:pPr>
            <a:r>
              <a:rPr lang="en-US" sz="3600" dirty="0">
                <a:latin typeface="Times New Roman" panose="02020603050405020304" pitchFamily="18" charset="0"/>
                <a:cs typeface="Times New Roman" panose="02020603050405020304" pitchFamily="18" charset="0"/>
              </a:rPr>
              <a:t>The Dynamic Online Examination &amp; Result Processing System is a web-based platform designed to conduct exams digitally and efficiently.</a:t>
            </a:r>
          </a:p>
          <a:p>
            <a:pPr marL="457200" indent="-457200" algn="just">
              <a:buFontTx/>
              <a:buChar char="-"/>
            </a:pPr>
            <a:r>
              <a:rPr lang="en-US" sz="3600" dirty="0">
                <a:latin typeface="Times New Roman" panose="02020603050405020304" pitchFamily="18" charset="0"/>
                <a:cs typeface="Times New Roman" panose="02020603050405020304" pitchFamily="18" charset="0"/>
              </a:rPr>
              <a:t>Traditional examination methods are time-consuming, paper-based, and prone to human errors in evaluation.</a:t>
            </a:r>
          </a:p>
          <a:p>
            <a:pPr marL="457200" indent="-457200" algn="just">
              <a:buFontTx/>
              <a:buChar char="-"/>
            </a:pPr>
            <a:r>
              <a:rPr lang="en-US" sz="3600" dirty="0">
                <a:latin typeface="Times New Roman" panose="02020603050405020304" pitchFamily="18" charset="0"/>
                <a:cs typeface="Times New Roman" panose="02020603050405020304" pitchFamily="18" charset="0"/>
              </a:rPr>
              <a:t>This project aims to automate the entire examination process, from question paper generation to result publication.</a:t>
            </a:r>
          </a:p>
          <a:p>
            <a:pPr marL="457200" indent="-457200" algn="just">
              <a:buFontTx/>
              <a:buChar char="-"/>
            </a:pPr>
            <a:r>
              <a:rPr lang="en-US" sz="3600" dirty="0">
                <a:latin typeface="Times New Roman" panose="02020603050405020304" pitchFamily="18" charset="0"/>
                <a:cs typeface="Times New Roman" panose="02020603050405020304" pitchFamily="18" charset="0"/>
              </a:rPr>
              <a:t>It ensures accuracy, transparency, and quick result processing.</a:t>
            </a:r>
          </a:p>
          <a:p>
            <a:pPr marL="457200" indent="-457200" algn="just">
              <a:buFontTx/>
              <a:buChar char="-"/>
            </a:pPr>
            <a:r>
              <a:rPr lang="en-US" sz="3600" dirty="0">
                <a:latin typeface="Times New Roman" panose="02020603050405020304" pitchFamily="18" charset="0"/>
                <a:cs typeface="Times New Roman" panose="02020603050405020304" pitchFamily="18" charset="0"/>
              </a:rPr>
              <a:t>The system provides secure login access for students, administrators, and examiners.</a:t>
            </a:r>
          </a:p>
          <a:p>
            <a:pPr marL="457200" indent="-457200" algn="just">
              <a:buFontTx/>
              <a:buChar char="-"/>
            </a:pPr>
            <a:r>
              <a:rPr lang="en-US" sz="3600" dirty="0">
                <a:latin typeface="Times New Roman" panose="02020603050405020304" pitchFamily="18" charset="0"/>
                <a:cs typeface="Times New Roman" panose="02020603050405020304" pitchFamily="18" charset="0"/>
              </a:rPr>
              <a:t>It supports objective-type tests with automatic evaluation and instant score generation.</a:t>
            </a:r>
          </a:p>
          <a:p>
            <a:pPr marL="457200" indent="-457200" algn="just">
              <a:buFontTx/>
              <a:buChar char="-"/>
            </a:pPr>
            <a:r>
              <a:rPr lang="en-US" sz="3600" dirty="0">
                <a:latin typeface="Times New Roman" panose="02020603050405020304" pitchFamily="18" charset="0"/>
                <a:cs typeface="Times New Roman" panose="02020603050405020304" pitchFamily="18" charset="0"/>
              </a:rPr>
              <a:t>The platform reduces paperwork and administrative workload.</a:t>
            </a:r>
          </a:p>
          <a:p>
            <a:pPr marL="457200" indent="-457200" algn="just">
              <a:buFontTx/>
              <a:buChar char="-"/>
            </a:pPr>
            <a:r>
              <a:rPr lang="en-US" sz="3600" dirty="0">
                <a:latin typeface="Times New Roman" panose="02020603050405020304" pitchFamily="18" charset="0"/>
                <a:cs typeface="Times New Roman" panose="02020603050405020304" pitchFamily="18" charset="0"/>
              </a:rPr>
              <a:t>This system is highly useful for schools, colleges, and competitive exam organizations in the digital era.</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818309" y="2015465"/>
            <a:ext cx="16241091" cy="5078313"/>
          </a:xfrm>
          <a:prstGeom prst="rect">
            <a:avLst/>
          </a:prstGeom>
          <a:noFill/>
        </p:spPr>
        <p:txBody>
          <a:bodyPr wrap="square" rtlCol="0">
            <a:spAutoFit/>
          </a:bodyPr>
          <a:lstStyle/>
          <a:p>
            <a:pPr marL="457200" indent="-457200" algn="just">
              <a:buFontTx/>
              <a:buChar char="-"/>
            </a:pPr>
            <a:r>
              <a:rPr lang="en-US" sz="3600" dirty="0">
                <a:latin typeface="Times New Roman" panose="02020603050405020304" pitchFamily="18" charset="0"/>
                <a:cs typeface="Times New Roman" panose="02020603050405020304" pitchFamily="18" charset="0"/>
              </a:rPr>
              <a:t>Traditional examination systems are manual, time-consuming, and prone to errors in evaluation and result processing.</a:t>
            </a:r>
          </a:p>
          <a:p>
            <a:pPr marL="457200" indent="-457200" algn="just">
              <a:buFontTx/>
              <a:buChar char="-"/>
            </a:pPr>
            <a:r>
              <a:rPr lang="en-US" sz="3600" dirty="0">
                <a:latin typeface="Times New Roman" panose="02020603050405020304" pitchFamily="18" charset="0"/>
                <a:cs typeface="Times New Roman" panose="02020603050405020304" pitchFamily="18" charset="0"/>
              </a:rPr>
              <a:t>Managing large numbers of students, question papers, and answer sheets requires significant effort and resources.</a:t>
            </a:r>
          </a:p>
          <a:p>
            <a:pPr marL="457200" indent="-457200" algn="just">
              <a:buFontTx/>
              <a:buChar char="-"/>
            </a:pPr>
            <a:r>
              <a:rPr lang="en-US" sz="3600" dirty="0">
                <a:latin typeface="Times New Roman" panose="02020603050405020304" pitchFamily="18" charset="0"/>
                <a:cs typeface="Times New Roman" panose="02020603050405020304" pitchFamily="18" charset="0"/>
              </a:rPr>
              <a:t>Delays in result publication create inconvenience for students and institutions.</a:t>
            </a:r>
          </a:p>
          <a:p>
            <a:pPr marL="457200" indent="-457200" algn="just">
              <a:buFontTx/>
              <a:buChar char="-"/>
            </a:pPr>
            <a:r>
              <a:rPr lang="en-US" sz="3600" dirty="0">
                <a:latin typeface="Times New Roman" panose="02020603050405020304" pitchFamily="18" charset="0"/>
                <a:cs typeface="Times New Roman" panose="02020603050405020304" pitchFamily="18" charset="0"/>
              </a:rPr>
              <a:t>There is also a lack of transparency and security in paper-based examinations.</a:t>
            </a:r>
          </a:p>
          <a:p>
            <a:pPr marL="457200" indent="-457200" algn="just">
              <a:buFontTx/>
              <a:buChar char="-"/>
            </a:pPr>
            <a:r>
              <a:rPr lang="en-US" sz="3600" dirty="0">
                <a:latin typeface="Times New Roman" panose="02020603050405020304" pitchFamily="18" charset="0"/>
                <a:cs typeface="Times New Roman" panose="02020603050405020304" pitchFamily="18" charset="0"/>
              </a:rPr>
              <a:t>Hence, there is a need for a secure, automated, and efficient online examination system that can conduct exams and process results dynamically with accuracy and speed.</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12144" y="1875109"/>
            <a:ext cx="15847256" cy="5632311"/>
          </a:xfrm>
          <a:prstGeom prst="rect">
            <a:avLst/>
          </a:prstGeom>
          <a:noFill/>
        </p:spPr>
        <p:txBody>
          <a:bodyPr wrap="square" rtlCol="0">
            <a:spAutoFit/>
          </a:bodyPr>
          <a:lstStyle/>
          <a:p>
            <a:endParaRPr lang="en-US" sz="4000" dirty="0">
              <a:latin typeface="Times New Roman" panose="02020603050405020304" pitchFamily="18" charset="0"/>
              <a:cs typeface="Times New Roman" panose="02020603050405020304" pitchFamily="18" charset="0"/>
            </a:endParaRPr>
          </a:p>
          <a:p>
            <a:pPr marL="457200" indent="-457200">
              <a:buFontTx/>
              <a:buChar char="-"/>
            </a:pPr>
            <a:r>
              <a:rPr lang="en-US" sz="4000" dirty="0">
                <a:latin typeface="Times New Roman" panose="02020603050405020304" pitchFamily="18" charset="0"/>
                <a:cs typeface="Times New Roman" panose="02020603050405020304" pitchFamily="18" charset="0"/>
              </a:rPr>
              <a:t>To design and develop a secure online examination platform.</a:t>
            </a:r>
          </a:p>
          <a:p>
            <a:pPr marL="457200" indent="-457200">
              <a:buFontTx/>
              <a:buChar char="-"/>
            </a:pPr>
            <a:r>
              <a:rPr lang="en-US" sz="4000" dirty="0">
                <a:latin typeface="Times New Roman" panose="02020603050405020304" pitchFamily="18" charset="0"/>
                <a:cs typeface="Times New Roman" panose="02020603050405020304" pitchFamily="18" charset="0"/>
              </a:rPr>
              <a:t>To automate question paper generation and exam scheduling.</a:t>
            </a:r>
          </a:p>
          <a:p>
            <a:pPr marL="457200" indent="-457200">
              <a:buFontTx/>
              <a:buChar char="-"/>
            </a:pPr>
            <a:r>
              <a:rPr lang="en-US" sz="4000" dirty="0">
                <a:latin typeface="Times New Roman" panose="02020603050405020304" pitchFamily="18" charset="0"/>
                <a:cs typeface="Times New Roman" panose="02020603050405020304" pitchFamily="18" charset="0"/>
              </a:rPr>
              <a:t>To enable students to take exams anytime and anywhere through login authentication.</a:t>
            </a:r>
          </a:p>
          <a:p>
            <a:pPr marL="457200" indent="-457200">
              <a:buFontTx/>
              <a:buChar char="-"/>
            </a:pPr>
            <a:r>
              <a:rPr lang="en-US" sz="4000" dirty="0">
                <a:latin typeface="Times New Roman" panose="02020603050405020304" pitchFamily="18" charset="0"/>
                <a:cs typeface="Times New Roman" panose="02020603050405020304" pitchFamily="18" charset="0"/>
              </a:rPr>
              <a:t>To implement automatic evaluation and instant result processing.</a:t>
            </a:r>
          </a:p>
          <a:p>
            <a:pPr marL="457200" indent="-457200">
              <a:buFontTx/>
              <a:buChar char="-"/>
            </a:pPr>
            <a:r>
              <a:rPr lang="en-US" sz="4000" dirty="0">
                <a:latin typeface="Times New Roman" panose="02020603050405020304" pitchFamily="18" charset="0"/>
                <a:cs typeface="Times New Roman" panose="02020603050405020304" pitchFamily="18" charset="0"/>
              </a:rPr>
              <a:t>To maintain accurate records of student performance.</a:t>
            </a:r>
          </a:p>
          <a:p>
            <a:pPr marL="457200" indent="-457200">
              <a:buFontTx/>
              <a:buChar char="-"/>
            </a:pPr>
            <a:r>
              <a:rPr lang="en-US" sz="4000" dirty="0">
                <a:latin typeface="Times New Roman" panose="02020603050405020304" pitchFamily="18" charset="0"/>
                <a:cs typeface="Times New Roman" panose="02020603050405020304" pitchFamily="18" charset="0"/>
              </a:rPr>
              <a:t>To reduce paperwork and administrative workload.</a:t>
            </a:r>
          </a:p>
          <a:p>
            <a:pPr marL="457200" indent="-457200">
              <a:buFontTx/>
              <a:buChar char="-"/>
            </a:pPr>
            <a:r>
              <a:rPr lang="en-US" sz="4000" dirty="0">
                <a:latin typeface="Times New Roman" panose="02020603050405020304" pitchFamily="18" charset="0"/>
                <a:cs typeface="Times New Roman" panose="02020603050405020304" pitchFamily="18" charset="0"/>
              </a:rPr>
              <a:t>To ensure data security and transparency in the examination process.</a:t>
            </a:r>
            <a:endParaRPr lang="en-IN"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701819" y="2247900"/>
            <a:ext cx="15783781" cy="6186309"/>
          </a:xfrm>
          <a:prstGeom prst="rect">
            <a:avLst/>
          </a:prstGeom>
          <a:noFill/>
        </p:spPr>
        <p:txBody>
          <a:bodyPr wrap="square" rtlCol="0">
            <a:spAutoFit/>
          </a:bodyPr>
          <a:lstStyle/>
          <a:p>
            <a:pPr marL="457200" indent="-457200" algn="just">
              <a:buFontTx/>
              <a:buChar char="-"/>
            </a:pPr>
            <a:r>
              <a:rPr lang="en-US" sz="3600" dirty="0">
                <a:latin typeface="Times New Roman" panose="02020603050405020304" pitchFamily="18" charset="0"/>
                <a:cs typeface="Times New Roman" panose="02020603050405020304" pitchFamily="18" charset="0"/>
              </a:rPr>
              <a:t>The system is a web-based application that conducts examinations online and processes results automatically.</a:t>
            </a:r>
          </a:p>
          <a:p>
            <a:pPr marL="457200" indent="-457200" algn="just">
              <a:buFontTx/>
              <a:buChar char="-"/>
            </a:pPr>
            <a:r>
              <a:rPr lang="en-US" sz="3600" dirty="0">
                <a:latin typeface="Times New Roman" panose="02020603050405020304" pitchFamily="18" charset="0"/>
                <a:cs typeface="Times New Roman" panose="02020603050405020304" pitchFamily="18" charset="0"/>
              </a:rPr>
              <a:t>It provides secure login access for Admin, Faculty, and Students.</a:t>
            </a:r>
          </a:p>
          <a:p>
            <a:pPr marL="457200" indent="-457200" algn="just">
              <a:buFontTx/>
              <a:buChar char="-"/>
            </a:pPr>
            <a:r>
              <a:rPr lang="en-US" sz="3600" dirty="0">
                <a:latin typeface="Times New Roman" panose="02020603050405020304" pitchFamily="18" charset="0"/>
                <a:cs typeface="Times New Roman" panose="02020603050405020304" pitchFamily="18" charset="0"/>
              </a:rPr>
              <a:t>Admin can create exams, manage question banks, and schedule tests.</a:t>
            </a:r>
          </a:p>
          <a:p>
            <a:pPr marL="457200" indent="-457200" algn="just">
              <a:buFontTx/>
              <a:buChar char="-"/>
            </a:pPr>
            <a:r>
              <a:rPr lang="en-US" sz="3600" dirty="0">
                <a:latin typeface="Times New Roman" panose="02020603050405020304" pitchFamily="18" charset="0"/>
                <a:cs typeface="Times New Roman" panose="02020603050405020304" pitchFamily="18" charset="0"/>
              </a:rPr>
              <a:t>Questions are dynamically generated and displayed to reduce malpractice.</a:t>
            </a:r>
          </a:p>
          <a:p>
            <a:pPr marL="457200" indent="-457200" algn="just">
              <a:buFontTx/>
              <a:buChar char="-"/>
            </a:pPr>
            <a:r>
              <a:rPr lang="en-US" sz="3600" dirty="0">
                <a:latin typeface="Times New Roman" panose="02020603050405020304" pitchFamily="18" charset="0"/>
                <a:cs typeface="Times New Roman" panose="02020603050405020304" pitchFamily="18" charset="0"/>
              </a:rPr>
              <a:t>The system automatically evaluates objective-type answers instantly.</a:t>
            </a:r>
          </a:p>
          <a:p>
            <a:pPr marL="457200" indent="-457200" algn="just">
              <a:buFontTx/>
              <a:buChar char="-"/>
            </a:pPr>
            <a:r>
              <a:rPr lang="en-US" sz="3600" dirty="0">
                <a:latin typeface="Times New Roman" panose="02020603050405020304" pitchFamily="18" charset="0"/>
                <a:cs typeface="Times New Roman" panose="02020603050405020304" pitchFamily="18" charset="0"/>
              </a:rPr>
              <a:t>Results are generated immediately after exam submission with detailed score reports.</a:t>
            </a:r>
          </a:p>
          <a:p>
            <a:pPr marL="457200" indent="-457200" algn="just">
              <a:buFontTx/>
              <a:buChar char="-"/>
            </a:pPr>
            <a:r>
              <a:rPr lang="en-US" sz="3600" dirty="0">
                <a:latin typeface="Times New Roman" panose="02020603050405020304" pitchFamily="18" charset="0"/>
                <a:cs typeface="Times New Roman" panose="02020603050405020304" pitchFamily="18" charset="0"/>
              </a:rPr>
              <a:t>All student data and exam records are securely stored in a centralized database.</a:t>
            </a:r>
          </a:p>
          <a:p>
            <a:pPr marL="457200" indent="-457200" algn="just">
              <a:buFontTx/>
              <a:buChar char="-"/>
            </a:pPr>
            <a:r>
              <a:rPr lang="en-US" sz="3600" dirty="0">
                <a:latin typeface="Times New Roman" panose="02020603050405020304" pitchFamily="18" charset="0"/>
                <a:cs typeface="Times New Roman" panose="02020603050405020304" pitchFamily="18" charset="0"/>
              </a:rPr>
              <a:t>The system reduces manual work, saves time, ensures accuracy, and improves transparency compared to traditional methods.</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399" y="5143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9814659-AFE5-D753-BE97-5F51B9FF3F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0" y="1261081"/>
            <a:ext cx="12192000" cy="8124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EBB3674-020D-2A3C-F7DB-AC89A4A6D3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800" y="1531043"/>
            <a:ext cx="12573000" cy="8382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381000" y="6291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377044" y="2063252"/>
            <a:ext cx="15082325" cy="7232749"/>
          </a:xfrm>
          <a:prstGeom prst="rect">
            <a:avLst/>
          </a:prstGeom>
          <a:noFill/>
        </p:spPr>
        <p:txBody>
          <a:bodyPr wrap="square" rtlCol="0">
            <a:spAutoFit/>
          </a:bodyPr>
          <a:lstStyle/>
          <a:p>
            <a:pPr marL="457200" indent="-457200">
              <a:buFontTx/>
              <a:buChar char="-"/>
            </a:pPr>
            <a:r>
              <a:rPr lang="en-US" sz="3600" b="1" dirty="0">
                <a:latin typeface="Times New Roman" panose="02020603050405020304" pitchFamily="18" charset="0"/>
                <a:cs typeface="Times New Roman" panose="02020603050405020304" pitchFamily="18" charset="0"/>
              </a:rPr>
              <a:t>Frontend:   </a:t>
            </a:r>
            <a:r>
              <a:rPr lang="en-US" sz="2800" dirty="0">
                <a:latin typeface="Times New Roman" panose="02020603050405020304" pitchFamily="18" charset="0"/>
                <a:cs typeface="Times New Roman" panose="02020603050405020304" pitchFamily="18" charset="0"/>
              </a:rPr>
              <a:t>HTML, CSS, JavaScript</a:t>
            </a:r>
          </a:p>
          <a:p>
            <a:pPr marL="457200" indent="-457200">
              <a:buFontTx/>
              <a:buChar char="-"/>
            </a:pPr>
            <a:endParaRPr lang="en-US" sz="2800" b="1" dirty="0">
              <a:latin typeface="Times New Roman" panose="02020603050405020304" pitchFamily="18" charset="0"/>
              <a:cs typeface="Times New Roman" panose="02020603050405020304" pitchFamily="18" charset="0"/>
            </a:endParaRPr>
          </a:p>
          <a:p>
            <a:pPr marL="457200" indent="-457200">
              <a:buFontTx/>
              <a:buChar char="-"/>
            </a:pPr>
            <a:r>
              <a:rPr lang="en-US" sz="3600" b="1" dirty="0">
                <a:latin typeface="Times New Roman" panose="02020603050405020304" pitchFamily="18" charset="0"/>
                <a:cs typeface="Times New Roman" panose="02020603050405020304" pitchFamily="18" charset="0"/>
              </a:rPr>
              <a:t>Backend:  </a:t>
            </a:r>
            <a:r>
              <a:rPr lang="en-US" sz="2800" dirty="0">
                <a:latin typeface="Times New Roman" panose="02020603050405020304" pitchFamily="18" charset="0"/>
                <a:cs typeface="Times New Roman" panose="02020603050405020304" pitchFamily="18" charset="0"/>
              </a:rPr>
              <a:t> PHP / Python for handling server-side logic and Exam processing</a:t>
            </a:r>
          </a:p>
          <a:p>
            <a:pPr marL="457200" indent="-457200">
              <a:buFontTx/>
              <a:buChar char="-"/>
            </a:pPr>
            <a:endParaRPr lang="en-US" sz="2800" b="1" dirty="0">
              <a:latin typeface="Times New Roman" panose="02020603050405020304" pitchFamily="18" charset="0"/>
              <a:cs typeface="Times New Roman" panose="02020603050405020304" pitchFamily="18" charset="0"/>
            </a:endParaRPr>
          </a:p>
          <a:p>
            <a:pPr marL="457200" indent="-457200">
              <a:buFontTx/>
              <a:buChar char="-"/>
            </a:pPr>
            <a:r>
              <a:rPr lang="en-US" sz="3600" b="1" dirty="0">
                <a:latin typeface="Times New Roman" panose="02020603050405020304" pitchFamily="18" charset="0"/>
                <a:cs typeface="Times New Roman" panose="02020603050405020304" pitchFamily="18" charset="0"/>
              </a:rPr>
              <a:t>Database:  </a:t>
            </a:r>
            <a:r>
              <a:rPr lang="en-US" sz="2800" dirty="0">
                <a:latin typeface="Times New Roman" panose="02020603050405020304" pitchFamily="18" charset="0"/>
                <a:cs typeface="Times New Roman" panose="02020603050405020304" pitchFamily="18" charset="0"/>
              </a:rPr>
              <a:t>MySQL or PostgreSQL for storing student details, question bank, exam data, and results.</a:t>
            </a:r>
          </a:p>
          <a:p>
            <a:pPr marL="457200" indent="-457200">
              <a:buFontTx/>
              <a:buChar char="-"/>
            </a:pPr>
            <a:endParaRPr lang="en-US" sz="3600" b="1" dirty="0">
              <a:latin typeface="Times New Roman" panose="02020603050405020304" pitchFamily="18" charset="0"/>
              <a:cs typeface="Times New Roman" panose="02020603050405020304" pitchFamily="18" charset="0"/>
            </a:endParaRPr>
          </a:p>
          <a:p>
            <a:pPr marL="457200" indent="-457200">
              <a:buFontTx/>
              <a:buChar char="-"/>
            </a:pPr>
            <a:r>
              <a:rPr lang="en-US" sz="3600" b="1" dirty="0">
                <a:latin typeface="Times New Roman" panose="02020603050405020304" pitchFamily="18" charset="0"/>
                <a:cs typeface="Times New Roman" panose="02020603050405020304" pitchFamily="18" charset="0"/>
              </a:rPr>
              <a:t>Tools:   </a:t>
            </a:r>
            <a:r>
              <a:rPr lang="en-US" sz="2800" dirty="0">
                <a:latin typeface="Times New Roman" panose="02020603050405020304" pitchFamily="18" charset="0"/>
                <a:cs typeface="Times New Roman" panose="02020603050405020304" pitchFamily="18" charset="0"/>
              </a:rPr>
              <a:t>VS Code / Eclipse IDE, XAMPP or Apache Tomcat Server, Git for version control.</a:t>
            </a:r>
          </a:p>
          <a:p>
            <a:pPr marL="457200" indent="-457200">
              <a:buFontTx/>
              <a:buChar char="-"/>
            </a:pPr>
            <a:endParaRPr lang="en-US" sz="3600" b="1" dirty="0">
              <a:latin typeface="Times New Roman" panose="02020603050405020304" pitchFamily="18" charset="0"/>
              <a:cs typeface="Times New Roman" panose="02020603050405020304" pitchFamily="18" charset="0"/>
            </a:endParaRPr>
          </a:p>
          <a:p>
            <a:pPr marL="457200" indent="-457200">
              <a:buFontTx/>
              <a:buChar char="-"/>
            </a:pPr>
            <a:r>
              <a:rPr lang="en-US" sz="3600" b="1" dirty="0">
                <a:latin typeface="Times New Roman" panose="02020603050405020304" pitchFamily="18" charset="0"/>
                <a:cs typeface="Times New Roman" panose="02020603050405020304" pitchFamily="18" charset="0"/>
              </a:rPr>
              <a:t>Hardware/Software Requirements: </a:t>
            </a:r>
            <a:r>
              <a:rPr lang="en-US" sz="2800" dirty="0">
                <a:latin typeface="Times New Roman" panose="02020603050405020304" pitchFamily="18" charset="0"/>
                <a:cs typeface="Times New Roman" panose="02020603050405020304" pitchFamily="18" charset="0"/>
              </a:rPr>
              <a:t>Minimum 4GB RAM, Dual-Core Processor, Windows/Linux OS, Web Browser (Chrome/Edge/Firefox), Stable Internet Connection.</a:t>
            </a:r>
          </a:p>
          <a:p>
            <a:pPr marL="457200" indent="-457200"/>
            <a:endParaRPr lang="en-US" sz="2800"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64355" y="2472240"/>
            <a:ext cx="15795045" cy="7458626"/>
          </a:xfrm>
          <a:prstGeom prst="rect">
            <a:avLst/>
          </a:prstGeom>
          <a:noFill/>
        </p:spPr>
        <p:txBody>
          <a:bodyPr wrap="square" rtlCol="0">
            <a:spAutoFit/>
          </a:bodyPr>
          <a:lstStyle/>
          <a:p>
            <a:pPr>
              <a:buFont typeface="Wingdings" pitchFamily="2" charset="2"/>
              <a:buChar char="Ø"/>
            </a:pPr>
            <a:r>
              <a:rPr lang="en-US" sz="3600" b="1" dirty="0">
                <a:latin typeface="Times New Roman" panose="02020603050405020304" pitchFamily="18" charset="0"/>
                <a:cs typeface="Times New Roman" panose="02020603050405020304" pitchFamily="18" charset="0"/>
              </a:rPr>
              <a:t>Module 1: User Management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Handles student, faculty, and admin registration, login, and role-based authentication to ensure secure system access.</a:t>
            </a:r>
          </a:p>
          <a:p>
            <a:pPr>
              <a:buFont typeface="Wingdings" pitchFamily="2" charset="2"/>
              <a:buChar char="Ø"/>
            </a:pPr>
            <a:r>
              <a:rPr lang="en-US" sz="3600" b="1" dirty="0">
                <a:latin typeface="Times New Roman" panose="02020603050405020304" pitchFamily="18" charset="0"/>
                <a:cs typeface="Times New Roman" panose="02020603050405020304" pitchFamily="18" charset="0"/>
              </a:rPr>
              <a:t>Module 2: Examination Management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Manages exam creation, scheduling, dynamic question paper generation, and timer-based online test conduction.</a:t>
            </a:r>
          </a:p>
          <a:p>
            <a:pPr>
              <a:buFont typeface="Wingdings" pitchFamily="2" charset="2"/>
              <a:buChar char="Ø"/>
            </a:pPr>
            <a:r>
              <a:rPr lang="en-US" sz="3600" b="1" dirty="0">
                <a:latin typeface="Times New Roman" panose="02020603050405020304" pitchFamily="18" charset="0"/>
                <a:cs typeface="Times New Roman" panose="02020603050405020304" pitchFamily="18" charset="0"/>
              </a:rPr>
              <a:t>Module 3: Evaluation &amp; Result Processing</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Automatically evaluates objective answers, calculates marks, and generates instant results with performance analysis.</a:t>
            </a:r>
          </a:p>
          <a:p>
            <a:pPr>
              <a:buFont typeface="Wingdings" pitchFamily="2" charset="2"/>
              <a:buChar char="Ø"/>
            </a:pPr>
            <a:r>
              <a:rPr lang="en-US" sz="3600" b="1" dirty="0">
                <a:latin typeface="Times New Roman" panose="02020603050405020304" pitchFamily="18" charset="0"/>
                <a:cs typeface="Times New Roman" panose="02020603050405020304" pitchFamily="18" charset="0"/>
              </a:rPr>
              <a:t>Module 4: Database &amp; Reporting Management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Stores student data, question banks, and result records securely, and generates detailed reports and analytical summaries for administrators.</a:t>
            </a:r>
            <a:endParaRPr lang="en-IN"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3" name="Picture 2">
            <a:extLst>
              <a:ext uri="{FF2B5EF4-FFF2-40B4-BE49-F238E27FC236}">
                <a16:creationId xmlns:a16="http://schemas.microsoft.com/office/drawing/2014/main" id="{8AB0B192-FED2-7321-6805-B9C0B49261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0933" y="1899910"/>
            <a:ext cx="12374702" cy="3648584"/>
          </a:xfrm>
          <a:prstGeom prst="rect">
            <a:avLst/>
          </a:prstGeom>
        </p:spPr>
      </p:pic>
      <p:sp>
        <p:nvSpPr>
          <p:cNvPr id="39" name="TextBox 38">
            <a:extLst>
              <a:ext uri="{FF2B5EF4-FFF2-40B4-BE49-F238E27FC236}">
                <a16:creationId xmlns:a16="http://schemas.microsoft.com/office/drawing/2014/main" id="{3B95B3C4-E9C1-B59F-7883-1FD8D5A7678D}"/>
              </a:ext>
            </a:extLst>
          </p:cNvPr>
          <p:cNvSpPr txBox="1"/>
          <p:nvPr/>
        </p:nvSpPr>
        <p:spPr>
          <a:xfrm>
            <a:off x="2209800" y="7084508"/>
            <a:ext cx="15616656" cy="2308324"/>
          </a:xfrm>
          <a:prstGeom prst="rect">
            <a:avLst/>
          </a:prstGeom>
          <a:noFill/>
        </p:spPr>
        <p:txBody>
          <a:bodyPr wrap="square">
            <a:spAutoFit/>
          </a:bodyPr>
          <a:lstStyle/>
          <a:p>
            <a:pPr algn="just"/>
            <a:r>
              <a:rPr lang="en-IN" sz="3600" dirty="0">
                <a:latin typeface="Times New Roman" panose="02020603050405020304" pitchFamily="18" charset="0"/>
                <a:cs typeface="Times New Roman" panose="02020603050405020304" pitchFamily="18" charset="0"/>
              </a:rPr>
              <a:t>This screenshot shows the login interface of a Dynamic Online Examination and Result Processing System, where users enter their username and password to securely access the platform. It ensures authorized access for students and administrators to login.</a:t>
            </a: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1784223" y="2066980"/>
            <a:ext cx="15082325" cy="5693866"/>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6" name="TextBox 5">
            <a:extLst>
              <a:ext uri="{FF2B5EF4-FFF2-40B4-BE49-F238E27FC236}">
                <a16:creationId xmlns:a16="http://schemas.microsoft.com/office/drawing/2014/main" id="{45EC1DD6-D3FB-F582-35A0-013DDA4D38D8}"/>
              </a:ext>
            </a:extLst>
          </p:cNvPr>
          <p:cNvSpPr txBox="1"/>
          <p:nvPr/>
        </p:nvSpPr>
        <p:spPr>
          <a:xfrm>
            <a:off x="2173709" y="6878586"/>
            <a:ext cx="15378703" cy="2308324"/>
          </a:xfrm>
          <a:prstGeom prst="rect">
            <a:avLst/>
          </a:prstGeom>
          <a:noFill/>
        </p:spPr>
        <p:txBody>
          <a:bodyPr wrap="square">
            <a:spAutoFit/>
          </a:bodyPr>
          <a:lstStyle/>
          <a:p>
            <a:pPr algn="just"/>
            <a:r>
              <a:rPr lang="en-IN" sz="3600" dirty="0">
                <a:latin typeface="Times New Roman" panose="02020603050405020304" pitchFamily="18" charset="0"/>
                <a:cs typeface="Times New Roman" panose="02020603050405020304" pitchFamily="18" charset="0"/>
              </a:rPr>
              <a:t>This screenshot shows the main dashboard of the Dynamic Online Examination System, where users can start the exam by clicking the “Start Exam” </a:t>
            </a:r>
            <a:r>
              <a:rPr lang="en-IN" sz="3600" dirty="0" err="1">
                <a:latin typeface="Times New Roman" panose="02020603050405020304" pitchFamily="18" charset="0"/>
                <a:cs typeface="Times New Roman" panose="02020603050405020304" pitchFamily="18" charset="0"/>
              </a:rPr>
              <a:t>button.It</a:t>
            </a:r>
            <a:r>
              <a:rPr lang="en-IN" sz="3600" dirty="0">
                <a:latin typeface="Times New Roman" panose="02020603050405020304" pitchFamily="18" charset="0"/>
                <a:cs typeface="Times New Roman" panose="02020603050405020304" pitchFamily="18" charset="0"/>
              </a:rPr>
              <a:t> provides a simple interface for students to access and begin their test smoothly within the system. And we a history of result analysis.</a:t>
            </a:r>
          </a:p>
        </p:txBody>
      </p:sp>
      <p:pic>
        <p:nvPicPr>
          <p:cNvPr id="39" name="Picture 38">
            <a:extLst>
              <a:ext uri="{FF2B5EF4-FFF2-40B4-BE49-F238E27FC236}">
                <a16:creationId xmlns:a16="http://schemas.microsoft.com/office/drawing/2014/main" id="{8DB91E89-94AC-8DCA-9287-05B442783F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28226" y="1757126"/>
            <a:ext cx="14171395" cy="3661035"/>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04956BC-D67E-4644-F8B7-CAE71F8B18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5230" y="1109428"/>
            <a:ext cx="12787142" cy="6061591"/>
          </a:xfrm>
          <a:prstGeom prst="rect">
            <a:avLst/>
          </a:prstGeom>
        </p:spPr>
      </p:pic>
      <p:sp>
        <p:nvSpPr>
          <p:cNvPr id="5" name="TextBox 4">
            <a:extLst>
              <a:ext uri="{FF2B5EF4-FFF2-40B4-BE49-F238E27FC236}">
                <a16:creationId xmlns:a16="http://schemas.microsoft.com/office/drawing/2014/main" id="{B055BD6F-D301-5B43-10B9-DEA2CF9B096C}"/>
              </a:ext>
            </a:extLst>
          </p:cNvPr>
          <p:cNvSpPr txBox="1"/>
          <p:nvPr/>
        </p:nvSpPr>
        <p:spPr>
          <a:xfrm>
            <a:off x="2062126" y="7937547"/>
            <a:ext cx="15229999" cy="1569660"/>
          </a:xfrm>
          <a:prstGeom prst="rect">
            <a:avLst/>
          </a:prstGeom>
          <a:noFill/>
        </p:spPr>
        <p:txBody>
          <a:bodyPr wrap="square">
            <a:spAutoFit/>
          </a:bodyPr>
          <a:lstStyle/>
          <a:p>
            <a:pPr algn="just"/>
            <a:r>
              <a:rPr lang="en-IN" sz="3200" dirty="0">
                <a:latin typeface="Times New Roman" panose="02020603050405020304" pitchFamily="18" charset="0"/>
                <a:cs typeface="Times New Roman" panose="02020603050405020304" pitchFamily="18" charset="0"/>
              </a:rPr>
              <a:t>This screenshot shows the examination question paper interface of the Dynamic Online Examination System, where students can view and answer </a:t>
            </a:r>
            <a:r>
              <a:rPr lang="en-IN" sz="3200" dirty="0" err="1">
                <a:latin typeface="Times New Roman" panose="02020603050405020304" pitchFamily="18" charset="0"/>
                <a:cs typeface="Times New Roman" panose="02020603050405020304" pitchFamily="18" charset="0"/>
              </a:rPr>
              <a:t>questions.It</a:t>
            </a:r>
            <a:r>
              <a:rPr lang="en-IN" sz="3200" dirty="0">
                <a:latin typeface="Times New Roman" panose="02020603050405020304" pitchFamily="18" charset="0"/>
                <a:cs typeface="Times New Roman" panose="02020603050405020304" pitchFamily="18" charset="0"/>
              </a:rPr>
              <a:t> allows users to navigate through questions and submit their responses efficiently during the exam.</a:t>
            </a:r>
          </a:p>
        </p:txBody>
      </p:sp>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A0493E6B-5E42-A973-2678-D8E189E97C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0491" y="1960286"/>
            <a:ext cx="12127017" cy="2915057"/>
          </a:xfrm>
          <a:prstGeom prst="rect">
            <a:avLst/>
          </a:prstGeom>
        </p:spPr>
      </p:pic>
      <p:sp>
        <p:nvSpPr>
          <p:cNvPr id="38" name="TextBox 37">
            <a:extLst>
              <a:ext uri="{FF2B5EF4-FFF2-40B4-BE49-F238E27FC236}">
                <a16:creationId xmlns:a16="http://schemas.microsoft.com/office/drawing/2014/main" id="{45893D4D-06D2-BB33-3513-D3875AECD5AC}"/>
              </a:ext>
            </a:extLst>
          </p:cNvPr>
          <p:cNvSpPr txBox="1"/>
          <p:nvPr/>
        </p:nvSpPr>
        <p:spPr>
          <a:xfrm>
            <a:off x="2498590" y="6949976"/>
            <a:ext cx="14217444" cy="2308324"/>
          </a:xfrm>
          <a:prstGeom prst="rect">
            <a:avLst/>
          </a:prstGeom>
          <a:noFill/>
        </p:spPr>
        <p:txBody>
          <a:bodyPr wrap="square">
            <a:spAutoFit/>
          </a:bodyPr>
          <a:lstStyle/>
          <a:p>
            <a:pPr algn="just"/>
            <a:r>
              <a:rPr lang="en-IN" sz="3600" dirty="0">
                <a:latin typeface="Times New Roman" panose="02020603050405020304" pitchFamily="18" charset="0"/>
                <a:cs typeface="Times New Roman" panose="02020603050405020304" pitchFamily="18" charset="0"/>
              </a:rPr>
              <a:t>This screenshot shows the result view of the Dynamic Online Examination and Result Processing System, where students can see their scores and performance. It provides instant evaluation results, helping users easily </a:t>
            </a:r>
            <a:r>
              <a:rPr lang="en-IN" sz="3600" dirty="0" err="1">
                <a:latin typeface="Times New Roman" panose="02020603050405020304" pitchFamily="18" charset="0"/>
                <a:cs typeface="Times New Roman" panose="02020603050405020304" pitchFamily="18" charset="0"/>
              </a:rPr>
              <a:t>analyze</a:t>
            </a:r>
            <a:r>
              <a:rPr lang="en-IN" sz="3600" dirty="0">
                <a:latin typeface="Times New Roman" panose="02020603050405020304" pitchFamily="18" charset="0"/>
                <a:cs typeface="Times New Roman" panose="02020603050405020304" pitchFamily="18" charset="0"/>
              </a:rPr>
              <a:t> their exam outcome</a:t>
            </a: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3F877D4-AB04-2CD0-ACC1-379413805D93}"/>
              </a:ext>
            </a:extLst>
          </p:cNvPr>
          <p:cNvSpPr txBox="1"/>
          <p:nvPr/>
        </p:nvSpPr>
        <p:spPr>
          <a:xfrm>
            <a:off x="2468986" y="1873588"/>
            <a:ext cx="15929334" cy="784830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manual work and paperwork through full automation.</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instant result generation with high accuracy.</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secure login and minimizes chances of paper leakage.</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Saves time for students, faculty, and administrators.</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 data centrally for easy access and performance analysis.</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endParaRPr kumimoji="0" 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Requires stable internet connection for smooth operation.</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Technical issues or server failure may affect exam conduction.</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evaluation for descriptive/subjective answers (if fully automated).</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 setup and maintenance cost may be high.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Times New Roman" panose="02020603050405020304" pitchFamily="18" charset="0"/>
                <a:ea typeface="Gotham Bold Italics"/>
                <a:cs typeface="Times New Roman" panose="02020603050405020304" pitchFamily="18" charset="0"/>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394</TotalTime>
  <Words>1073</Words>
  <Application>Microsoft Office PowerPoint</Application>
  <PresentationFormat>Custom</PresentationFormat>
  <Paragraphs>234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Times New Roman</vt:lpstr>
      <vt:lpstr>Cambria</vt:lpstr>
      <vt:lpstr>Wingdings</vt:lpstr>
      <vt:lpstr>Gotham</vt:lpstr>
      <vt:lpstr>Bookman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 2022</dc:creator>
  <cp:lastModifiedBy>Sai 2022</cp:lastModifiedBy>
  <cp:revision>12</cp:revision>
  <dcterms:created xsi:type="dcterms:W3CDTF">2006-08-16T00:00:00Z</dcterms:created>
  <dcterms:modified xsi:type="dcterms:W3CDTF">2026-03-23T05:48:43Z</dcterms:modified>
  <dc:identifier>DAHCaYqJ9OU</dc:identifier>
</cp:coreProperties>
</file>